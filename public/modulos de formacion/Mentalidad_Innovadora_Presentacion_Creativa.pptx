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72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46185"/>
            <a:ext cx="7265963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19376D"/>
                </a:solidFill>
              </a:defRPr>
            </a:pPr>
            <a:r>
              <a:rPr dirty="0"/>
              <a:t>CÓMO TENER UNA MENTALIDAD INNOVADORA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225615"/>
            <a:ext cx="8503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r>
              <a:rPr lang="es-MX" sz="1200" dirty="0"/>
              <a:t>Una </a:t>
            </a:r>
            <a:r>
              <a:rPr lang="es-MX" sz="1200" b="1" dirty="0"/>
              <a:t>mentalidad innovadora</a:t>
            </a:r>
            <a:r>
              <a:rPr lang="es-MX" sz="1200" dirty="0"/>
              <a:t> es una forma de pensar orientada a descubrir oportunidades, resolver problemas de manera creativa y desafiar lo establecido. Es la base del progreso personal y empresarial, ya que impulsa el desarrollo de nuevas ideas, productos y servicios que generan valor en la sociedad.</a:t>
            </a:r>
          </a:p>
          <a:p>
            <a:r>
              <a:rPr lang="es-MX" sz="1200" b="1" dirty="0"/>
              <a:t>🔹 Características clave:</a:t>
            </a:r>
          </a:p>
          <a:p>
            <a:r>
              <a:rPr lang="es-MX" sz="1200" b="1" dirty="0"/>
              <a:t>Curiosidad constante:</a:t>
            </a:r>
            <a:r>
              <a:rPr lang="es-MX" sz="1200" dirty="0"/>
              <a:t> Las personas innovadoras hacen preguntas, exploran nuevas áreas y nunca dejan de aprender.</a:t>
            </a:r>
          </a:p>
          <a:p>
            <a:r>
              <a:rPr lang="es-MX" sz="1200" b="1" dirty="0"/>
              <a:t>Adaptabilidad:</a:t>
            </a:r>
            <a:r>
              <a:rPr lang="es-MX" sz="1200" dirty="0"/>
              <a:t> Ven el cambio como una oportunidad, no como una amenaza.</a:t>
            </a:r>
          </a:p>
          <a:p>
            <a:r>
              <a:rPr lang="es-MX" sz="1200" b="1" dirty="0"/>
              <a:t>Tolerancia al fracaso:</a:t>
            </a:r>
            <a:r>
              <a:rPr lang="es-MX" sz="1200" dirty="0"/>
              <a:t> Cada error se interpreta como una lección que impulsa la mejora.</a:t>
            </a:r>
          </a:p>
          <a:p>
            <a:r>
              <a:rPr lang="es-MX" sz="1200" b="1" dirty="0"/>
              <a:t>Pensamiento crítico y creativo:</a:t>
            </a:r>
            <a:r>
              <a:rPr lang="es-MX" sz="1200" dirty="0"/>
              <a:t> Evalúan las situaciones desde múltiples perspectivas antes de decidir.</a:t>
            </a:r>
          </a:p>
          <a:p>
            <a:r>
              <a:rPr lang="es-MX" sz="1200" b="1" dirty="0"/>
              <a:t>Empatía:</a:t>
            </a:r>
            <a:r>
              <a:rPr lang="es-MX" sz="1200" dirty="0"/>
              <a:t> Comprenden las necesidades reales de las personas, lo que permite proponer soluciones útiles y humanas.</a:t>
            </a:r>
          </a:p>
          <a:p>
            <a:r>
              <a:rPr lang="es-MX" sz="1200" b="1" dirty="0"/>
              <a:t>🔹 Estrategias para cultivarla:</a:t>
            </a:r>
          </a:p>
          <a:p>
            <a:r>
              <a:rPr lang="es-MX" sz="1200" b="1" dirty="0"/>
              <a:t>Aprende algo nuevo cada día.</a:t>
            </a:r>
            <a:r>
              <a:rPr lang="es-MX" sz="1200" dirty="0"/>
              <a:t> Leer, experimentar y observar el entorno fomenta nuevas conexiones mentales.</a:t>
            </a:r>
          </a:p>
          <a:p>
            <a:r>
              <a:rPr lang="es-MX" sz="1200" b="1" dirty="0"/>
              <a:t>Rodéate de diversidad.</a:t>
            </a:r>
            <a:r>
              <a:rPr lang="es-MX" sz="1200" dirty="0"/>
              <a:t> Trabajar con personas de distintas culturas y profesiones amplía tu visión del mundo.</a:t>
            </a:r>
          </a:p>
          <a:p>
            <a:r>
              <a:rPr lang="es-MX" sz="1200" b="1" dirty="0"/>
              <a:t>Cuestiona lo establecido.</a:t>
            </a:r>
            <a:r>
              <a:rPr lang="es-MX" sz="1200" dirty="0"/>
              <a:t> Pregúntate “¿por qué?” y “¿qué pasaría si…?”.</a:t>
            </a:r>
          </a:p>
          <a:p>
            <a:r>
              <a:rPr lang="es-MX" sz="1200" b="1" dirty="0"/>
              <a:t>Aplica la mentalidad experimental.</a:t>
            </a:r>
            <a:r>
              <a:rPr lang="es-MX" sz="1200" dirty="0"/>
              <a:t> Prueba tus ideas en pequeño, mide resultados y mejora.</a:t>
            </a:r>
          </a:p>
          <a:p>
            <a:r>
              <a:rPr lang="es-MX" sz="1200" b="1" dirty="0"/>
              <a:t>Piensa en el futuro.</a:t>
            </a:r>
            <a:r>
              <a:rPr lang="es-MX" sz="1200" dirty="0"/>
              <a:t> Anticipar tendencias te ayuda a innovar antes que los demás.</a:t>
            </a:r>
          </a:p>
          <a:p>
            <a:r>
              <a:rPr lang="es-MX" sz="1200" dirty="0"/>
              <a:t>Ejemplo: </a:t>
            </a:r>
            <a:r>
              <a:rPr lang="es-MX" sz="1200" b="1" dirty="0"/>
              <a:t>Tesla</a:t>
            </a:r>
            <a:r>
              <a:rPr lang="es-MX" sz="1200" dirty="0"/>
              <a:t> rompió los paradigmas del automóvil tradicional apostando por la energía eléctrica y la conducción autónoma. Todo comenzó con una mentalidad abierta al cambio.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19376D"/>
                </a:solidFill>
              </a:defRPr>
            </a:pPr>
            <a:r>
              <a:t>PROGRAMAS DE INCUBACIÓN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0936" y="1720840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 dirty="0"/>
          </a:p>
          <a:p>
            <a:r>
              <a:rPr lang="es-MX" sz="1200" dirty="0"/>
              <a:t>Los </a:t>
            </a:r>
            <a:r>
              <a:rPr lang="es-MX" sz="1200" b="1" dirty="0"/>
              <a:t>programas de incubación</a:t>
            </a:r>
            <a:r>
              <a:rPr lang="es-MX" sz="1200" dirty="0"/>
              <a:t> son espacios diseñados para transformar ideas innovadoras en negocios sostenibles. Apoyan a los emprendedores desde las primeras fases de su proyecto con recursos, mentoría y acompañamiento especializado.</a:t>
            </a:r>
          </a:p>
          <a:p>
            <a:r>
              <a:rPr lang="es-MX" sz="1200" b="1" dirty="0"/>
              <a:t>🔹 Objetivos principales:</a:t>
            </a:r>
          </a:p>
          <a:p>
            <a:r>
              <a:rPr lang="es-MX" sz="1200" dirty="0"/>
              <a:t>Guiar a los emprendedores en la validación de su idea.</a:t>
            </a:r>
          </a:p>
          <a:p>
            <a:r>
              <a:rPr lang="es-MX" sz="1200" dirty="0"/>
              <a:t>Brindar acceso a herramientas técnicas, legales y financieras.</a:t>
            </a:r>
          </a:p>
          <a:p>
            <a:r>
              <a:rPr lang="es-MX" sz="1200" dirty="0"/>
              <a:t>Reducir los riesgos de fracaso.</a:t>
            </a:r>
          </a:p>
          <a:p>
            <a:r>
              <a:rPr lang="es-MX" sz="1200" dirty="0"/>
              <a:t>Fomentar la creación de redes de colaboración empresarial.</a:t>
            </a:r>
          </a:p>
          <a:p>
            <a:r>
              <a:rPr lang="es-MX" sz="1200" b="1" dirty="0"/>
              <a:t>🔹 Beneficios:</a:t>
            </a:r>
          </a:p>
          <a:p>
            <a:r>
              <a:rPr lang="es-MX" sz="1200" b="1" dirty="0"/>
              <a:t>Mentoría personalizada:</a:t>
            </a:r>
            <a:r>
              <a:rPr lang="es-MX" sz="1200" dirty="0"/>
              <a:t> Asesoramiento de expertos en innovación, marketing y finanzas.</a:t>
            </a:r>
          </a:p>
          <a:p>
            <a:r>
              <a:rPr lang="es-MX" sz="1200" b="1" dirty="0"/>
              <a:t>Capacitación integral:</a:t>
            </a:r>
            <a:r>
              <a:rPr lang="es-MX" sz="1200" dirty="0"/>
              <a:t> Talleres sobre modelo de negocio, estrategias de mercado, liderazgo y gestión empresarial.</a:t>
            </a:r>
          </a:p>
          <a:p>
            <a:r>
              <a:rPr lang="es-MX" sz="1200" b="1" dirty="0"/>
              <a:t>Acceso a financiamiento:</a:t>
            </a:r>
            <a:r>
              <a:rPr lang="es-MX" sz="1200" dirty="0"/>
              <a:t> Fondos semilla, inversionistas ángeles o capital de riesgo.</a:t>
            </a:r>
          </a:p>
          <a:p>
            <a:r>
              <a:rPr lang="es-MX" sz="1200" b="1" dirty="0"/>
              <a:t>Infraestructura:</a:t>
            </a:r>
            <a:r>
              <a:rPr lang="es-MX" sz="1200" dirty="0"/>
              <a:t> Espacios de coworking, laboratorios y recursos tecnológicos.</a:t>
            </a:r>
          </a:p>
          <a:p>
            <a:r>
              <a:rPr lang="es-MX" sz="1200" b="1" dirty="0"/>
              <a:t>Visibilidad y </a:t>
            </a:r>
            <a:r>
              <a:rPr lang="es-MX" sz="1200" b="1" dirty="0" err="1"/>
              <a:t>networking</a:t>
            </a:r>
            <a:r>
              <a:rPr lang="es-MX" sz="1200" b="1" dirty="0"/>
              <a:t>:</a:t>
            </a:r>
            <a:r>
              <a:rPr lang="es-MX" sz="1200" dirty="0"/>
              <a:t> Conexiones con empresas, universidades y organismos de apoyo.</a:t>
            </a:r>
          </a:p>
          <a:p>
            <a:r>
              <a:rPr lang="es-MX" sz="1200" dirty="0"/>
              <a:t>Ejemplos destacados:</a:t>
            </a:r>
          </a:p>
          <a:p>
            <a:r>
              <a:rPr lang="es-MX" sz="1200" b="1" dirty="0"/>
              <a:t>Startup Chile</a:t>
            </a:r>
            <a:r>
              <a:rPr lang="es-MX" sz="1200" dirty="0"/>
              <a:t>: pionero en América Latina, ha apoyado más de 1,600 startups de todo el mundo.</a:t>
            </a:r>
          </a:p>
          <a:p>
            <a:r>
              <a:rPr lang="es-MX" sz="1200" b="1" dirty="0"/>
              <a:t>INNPULSA Colombia:</a:t>
            </a:r>
            <a:r>
              <a:rPr lang="es-MX" sz="1200" dirty="0"/>
              <a:t> impulsa el crecimiento de empresas innovadoras y de alto impacto.</a:t>
            </a:r>
          </a:p>
          <a:p>
            <a:r>
              <a:rPr lang="es-MX" sz="1200" b="1" dirty="0" err="1"/>
              <a:t>Techstars</a:t>
            </a:r>
            <a:r>
              <a:rPr lang="es-MX" sz="1200" dirty="0"/>
              <a:t> y </a:t>
            </a:r>
            <a:r>
              <a:rPr lang="es-MX" sz="1200" b="1" dirty="0" err="1"/>
              <a:t>Y</a:t>
            </a:r>
            <a:r>
              <a:rPr lang="es-MX" sz="1200" b="1" dirty="0"/>
              <a:t> </a:t>
            </a:r>
            <a:r>
              <a:rPr lang="es-MX" sz="1200" b="1" dirty="0" err="1"/>
              <a:t>Combinator</a:t>
            </a:r>
            <a:r>
              <a:rPr lang="es-MX" sz="1200" dirty="0"/>
              <a:t>: aceleradoras globales que han ayudado a crear gigantes como Airbnb y Dropbox.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72353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400" b="1">
                <a:solidFill>
                  <a:srgbClr val="19376D"/>
                </a:solidFill>
              </a:defRPr>
            </a:pPr>
            <a:r>
              <a:rPr dirty="0"/>
              <a:t>INICIATIVAS DE GOBIERNO PARA FOMENTAR IDEAS DE NEGOCIOS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2857857"/>
            <a:ext cx="777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Los gobiernos juegan un papel esencial en la promoción del emprendimiento y la innovación. A través de programas públicos, incentivan la creación de nuevas empresas, impulsan la competitividad y fortalecen el tejido económico.</a:t>
            </a:r>
          </a:p>
          <a:p>
            <a:r>
              <a:rPr lang="es-MX" sz="1200" b="1" dirty="0"/>
              <a:t>🔹 Tipos de iniciativas:</a:t>
            </a:r>
          </a:p>
          <a:p>
            <a:r>
              <a:rPr lang="es-MX" sz="1200" b="1" dirty="0"/>
              <a:t>Fondos y subsidios:</a:t>
            </a:r>
            <a:r>
              <a:rPr lang="es-MX" sz="1200" dirty="0"/>
              <a:t> Apoyos económicos no reembolsables para validar o escalar proyectos.</a:t>
            </a:r>
          </a:p>
          <a:p>
            <a:r>
              <a:rPr lang="es-MX" sz="1200" b="1" dirty="0"/>
              <a:t>Capacitación empresarial:</a:t>
            </a:r>
            <a:r>
              <a:rPr lang="es-MX" sz="1200" dirty="0"/>
              <a:t> Cursos y mentorías en gestión, innovación y transformación digital.</a:t>
            </a:r>
          </a:p>
          <a:p>
            <a:r>
              <a:rPr lang="es-MX" sz="1200" b="1" dirty="0"/>
              <a:t>Concursos y ferias de emprendimiento:</a:t>
            </a:r>
            <a:r>
              <a:rPr lang="es-MX" sz="1200" dirty="0"/>
              <a:t> Reconocen y financian las mejores ideas de negocio.</a:t>
            </a:r>
          </a:p>
          <a:p>
            <a:r>
              <a:rPr lang="es-MX" sz="1200" b="1" dirty="0"/>
              <a:t>Centros de innovación y coworking público:</a:t>
            </a:r>
            <a:r>
              <a:rPr lang="es-MX" sz="1200" dirty="0"/>
              <a:t> Espacios donde los emprendedores colaboran.</a:t>
            </a:r>
          </a:p>
          <a:p>
            <a:r>
              <a:rPr lang="es-MX" sz="1200" b="1" dirty="0"/>
              <a:t>Políticas de incentivo fiscal:</a:t>
            </a:r>
            <a:r>
              <a:rPr lang="es-MX" sz="1200" dirty="0"/>
              <a:t> Reducción de impuestos o beneficios para startups tecnológicas.</a:t>
            </a:r>
          </a:p>
          <a:p>
            <a:r>
              <a:rPr lang="es-MX" sz="1200" b="1" dirty="0"/>
              <a:t>🔹 Ejemplos internacionales:</a:t>
            </a:r>
          </a:p>
          <a:p>
            <a:r>
              <a:rPr lang="es-MX" sz="1200" b="1" dirty="0"/>
              <a:t>INNPULSA Colombia:</a:t>
            </a:r>
            <a:r>
              <a:rPr lang="es-MX" sz="1200" dirty="0"/>
              <a:t> promueve la mentalidad emprendedora mediante retos de innovación abierta.</a:t>
            </a:r>
          </a:p>
          <a:p>
            <a:r>
              <a:rPr lang="es-MX" sz="1200" b="1" dirty="0"/>
              <a:t>INADEM México:</a:t>
            </a:r>
            <a:r>
              <a:rPr lang="es-MX" sz="1200" dirty="0"/>
              <a:t> fortaleció a miles de pequeñas empresas con programas de financiamiento.</a:t>
            </a:r>
          </a:p>
          <a:p>
            <a:r>
              <a:rPr lang="es-MX" sz="1200" b="1" dirty="0"/>
              <a:t>ENISA España:</a:t>
            </a:r>
            <a:r>
              <a:rPr lang="es-MX" sz="1200" dirty="0"/>
              <a:t> ofrece préstamos participativos sin necesidad de aval personal.</a:t>
            </a:r>
          </a:p>
          <a:p>
            <a:r>
              <a:rPr lang="es-MX" sz="1200" b="1" dirty="0" err="1"/>
              <a:t>StartUp</a:t>
            </a:r>
            <a:r>
              <a:rPr lang="es-MX" sz="1200" b="1" dirty="0"/>
              <a:t> Portugal</a:t>
            </a:r>
            <a:r>
              <a:rPr lang="es-MX" sz="1200" dirty="0"/>
              <a:t> y </a:t>
            </a:r>
            <a:r>
              <a:rPr lang="es-MX" sz="1200" b="1" dirty="0"/>
              <a:t>Chile Emprende</a:t>
            </a:r>
            <a:r>
              <a:rPr lang="es-MX" sz="1200" dirty="0"/>
              <a:t> también fomentan el ecosistema de innovación en sus regiones.</a:t>
            </a:r>
          </a:p>
          <a:p>
            <a:r>
              <a:rPr lang="es-MX" sz="1200" dirty="0"/>
              <a:t>Estas iniciativas no solo impulsan la economía, sino que también promueven el desarrollo social y tecnológico de cada país.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400" b="1">
                <a:solidFill>
                  <a:srgbClr val="19376D"/>
                </a:solidFill>
              </a:defRPr>
            </a:pPr>
            <a:r>
              <a:t>METODOLOGÍA DESIGN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/>
              <a:t>El </a:t>
            </a:r>
            <a:r>
              <a:rPr lang="es-MX" sz="1200" b="1" dirty="0" err="1"/>
              <a:t>Design</a:t>
            </a:r>
            <a:r>
              <a:rPr lang="es-MX" sz="1200" b="1" dirty="0"/>
              <a:t> </a:t>
            </a:r>
            <a:r>
              <a:rPr lang="es-MX" sz="1200" b="1" dirty="0" err="1"/>
              <a:t>Thinking</a:t>
            </a:r>
            <a:r>
              <a:rPr lang="es-MX" sz="1200" dirty="0"/>
              <a:t> es una metodología de innovación centrada en el ser humano que combina creatividad y análisis para resolver problemas complejos. Se basa en entender a fondo las necesidades de las personas para crear soluciones efectivas y deseables.</a:t>
            </a:r>
          </a:p>
          <a:p>
            <a:r>
              <a:rPr lang="es-MX" sz="1200" b="1" dirty="0"/>
              <a:t>🔹 Fases del proceso:</a:t>
            </a:r>
          </a:p>
          <a:p>
            <a:r>
              <a:rPr lang="es-MX" sz="1200" b="1" dirty="0"/>
              <a:t>Empatizar:</a:t>
            </a:r>
            <a:r>
              <a:rPr lang="es-MX" sz="1200" dirty="0"/>
              <a:t> Conocer al usuario, observar su comportamiento y entender sus emociones.</a:t>
            </a:r>
          </a:p>
          <a:p>
            <a:r>
              <a:rPr lang="es-MX" sz="1200" b="1" dirty="0"/>
              <a:t>Definir:</a:t>
            </a:r>
            <a:r>
              <a:rPr lang="es-MX" sz="1200" dirty="0"/>
              <a:t> Analizar la información obtenida para formular un problema claro y concreto.</a:t>
            </a:r>
          </a:p>
          <a:p>
            <a:r>
              <a:rPr lang="es-MX" sz="1200" b="1" dirty="0"/>
              <a:t>Idear:</a:t>
            </a:r>
            <a:r>
              <a:rPr lang="es-MX" sz="1200" dirty="0"/>
              <a:t> Generar una amplia variedad de ideas sin juzgar; fomentar la creatividad colectiva.</a:t>
            </a:r>
          </a:p>
          <a:p>
            <a:r>
              <a:rPr lang="es-MX" sz="1200" b="1" dirty="0"/>
              <a:t>Prototipar:</a:t>
            </a:r>
            <a:r>
              <a:rPr lang="es-MX" sz="1200" dirty="0"/>
              <a:t> Crear versiones preliminares del producto o servicio para visualizar la solución.</a:t>
            </a:r>
          </a:p>
          <a:p>
            <a:r>
              <a:rPr lang="es-MX" sz="1200" b="1" dirty="0"/>
              <a:t>Probar:</a:t>
            </a:r>
            <a:r>
              <a:rPr lang="es-MX" sz="1200" dirty="0"/>
              <a:t> Presentar el prototipo a los usuarios, recoger comentarios y mejorar la propuesta.</a:t>
            </a:r>
          </a:p>
          <a:p>
            <a:r>
              <a:rPr lang="es-MX" sz="1200" b="1" dirty="0"/>
              <a:t>🔹 Ventajas:</a:t>
            </a:r>
          </a:p>
          <a:p>
            <a:r>
              <a:rPr lang="es-MX" sz="1200" dirty="0"/>
              <a:t>Promueve la colaboración interdisciplinaria.</a:t>
            </a:r>
          </a:p>
          <a:p>
            <a:r>
              <a:rPr lang="es-MX" sz="1200" dirty="0"/>
              <a:t>Reduce riesgos al validar ideas antes de invertir grandes recursos.</a:t>
            </a:r>
          </a:p>
          <a:p>
            <a:r>
              <a:rPr lang="es-MX" sz="1200" dirty="0"/>
              <a:t>Permite soluciones centradas en el usuario y no en suposiciones.</a:t>
            </a:r>
          </a:p>
          <a:p>
            <a:r>
              <a:rPr lang="es-MX" sz="1200" dirty="0"/>
              <a:t>Fomenta la cultura del aprendizaje y la experimentación.</a:t>
            </a:r>
          </a:p>
          <a:p>
            <a:r>
              <a:rPr lang="es-MX" sz="1200" dirty="0"/>
              <a:t>Ejemplo: </a:t>
            </a:r>
            <a:r>
              <a:rPr lang="es-MX" sz="1200" b="1" dirty="0"/>
              <a:t>Airbnb</a:t>
            </a:r>
            <a:r>
              <a:rPr lang="es-MX" sz="1200" dirty="0"/>
              <a:t> utilizó </a:t>
            </a:r>
            <a:r>
              <a:rPr lang="es-MX" sz="1200" dirty="0" err="1"/>
              <a:t>Design</a:t>
            </a:r>
            <a:r>
              <a:rPr lang="es-MX" sz="1200" dirty="0"/>
              <a:t> </a:t>
            </a:r>
            <a:r>
              <a:rPr lang="es-MX" sz="1200" dirty="0" err="1"/>
              <a:t>Thinking</a:t>
            </a:r>
            <a:r>
              <a:rPr lang="es-MX" sz="1200" dirty="0"/>
              <a:t> para rediseñar la experiencia del usuario en su plataforma, aumentando la confianza y satisfacción de los clientes a nivel global.</a:t>
            </a:r>
          </a:p>
          <a:p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851</Words>
  <Application>Microsoft Office PowerPoint</Application>
  <PresentationFormat>Presentación en pantalla (4:3)</PresentationFormat>
  <Paragraphs>66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2025-11-05T16:30:27Z</dcterms:modified>
  <cp:category/>
</cp:coreProperties>
</file>